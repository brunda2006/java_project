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74" r:id="rId6"/>
    <p:sldId id="278" r:id="rId7"/>
    <p:sldId id="280" r:id="rId8"/>
    <p:sldId id="283" r:id="rId9"/>
    <p:sldId id="286" r:id="rId10"/>
    <p:sldId id="285" r:id="rId11"/>
    <p:sldId id="284" r:id="rId12"/>
    <p:sldId id="271" r:id="rId13"/>
    <p:sldId id="281" r:id="rId14"/>
    <p:sldId id="287" r:id="rId15"/>
    <p:sldId id="289" r:id="rId16"/>
    <p:sldId id="288" r:id="rId17"/>
    <p:sldId id="301" r:id="rId18"/>
    <p:sldId id="302" r:id="rId19"/>
    <p:sldId id="303" r:id="rId20"/>
    <p:sldId id="304" r:id="rId21"/>
    <p:sldId id="305" r:id="rId22"/>
    <p:sldId id="306" r:id="rId23"/>
    <p:sldId id="307" r:id="rId24"/>
    <p:sldId id="290" r:id="rId25"/>
    <p:sldId id="291" r:id="rId26"/>
    <p:sldId id="268" r:id="rId27"/>
    <p:sldId id="269" r:id="rId28"/>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1" d="100"/>
          <a:sy n="71" d="100"/>
        </p:scale>
        <p:origin x="1877"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05-04-2026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5139-1AFF-D3A0-DDED-EC44904EB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CAA4A-8CBD-6631-C71D-AC4F63D9D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0C2C8-43BC-835F-52A1-5BF2FAEB5E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BC6ACFE-808B-4C46-05B5-18378E07F9DF}"/>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109885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6.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6.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6.jp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6.jp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ocs.oracle.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dirty="0"/>
              <a:t>Student Course Registration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V </a:t>
            </a:r>
            <a:r>
              <a:rPr lang="en-IN" sz="2000" spc="-10" dirty="0" err="1">
                <a:solidFill>
                  <a:srgbClr val="17375E"/>
                </a:solidFill>
                <a:latin typeface="Times New Roman" panose="02020603050405020304" pitchFamily="18" charset="0"/>
                <a:cs typeface="Times New Roman" panose="02020603050405020304" pitchFamily="18" charset="0"/>
              </a:rPr>
              <a:t>Brunda</a:t>
            </a:r>
            <a:r>
              <a:rPr lang="en-IN" sz="2000" spc="-10" dirty="0">
                <a:solidFill>
                  <a:srgbClr val="17375E"/>
                </a:solidFill>
                <a:latin typeface="Times New Roman" panose="02020603050405020304" pitchFamily="18" charset="0"/>
                <a:cs typeface="Times New Roman" panose="02020603050405020304" pitchFamily="18" charset="0"/>
              </a:rPr>
              <a:t>   (24B11CS485)</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G Jahnavi  (24B11CS512)</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A Hemanth (25B21CS071)</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CH Manoj  (25B21CS068)</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Computer Science and Engineering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561769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Student Course Registration System (SCRS) is a desktop-based application designed to streamline the process of course enrollment for students and course management for faculty within an academic institution.</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eliminates manual, paper-based registration methods by providing a digital, role-based platform for Students and Faculty.</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Developed using Core Java, Java Swing, JDBC, and SQL, the system supports role-based access control and prevents duplicate course registrations.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SCRS enhances institutional productivity and provides a reliable solution for managing student course enrollments efficiently.</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455964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many academic institutions, course registration is still carried out manually or through basic spreadsheet tools, leading to inefficiencies.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Manual methods lead to data duplication, difficulty in tracking enrollments, and increased chances of errors.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Course Registration System provides a centralized platform where students can register for courses and faculty can manage the academic catalog.</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project focuses on developing a desktop-based Java application for effective academic course enrollment management.</a:t>
            </a:r>
          </a:p>
          <a:p>
            <a:pPr marL="342900" indent="-342900" algn="just">
              <a:lnSpc>
                <a:spcPct val="150000"/>
              </a:lnSpc>
              <a:buFont typeface="Arial" panose="020B0604020202020204" pitchFamily="34" charset="0"/>
              <a:buChar char="•"/>
            </a:pPr>
            <a:endParaRPr lang="en-IN" sz="2000" dirty="0"/>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22610"/>
            <a:ext cx="8534400" cy="4571251"/>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presents a role selection screen upon launch, allowing the user to choose between Student and Faculty roles.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Students can log in to view their dashboard, browse and register for courses relevant to their assigned branch.</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Faculty members can add, update, and delete branches and courses; they can also view enrolled students per course.</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enforces role-based access control and prevents duplicate course registrations to ensure data integrity.</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7/10/11</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Visual Studio Code / IntelliJ IDEA</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SQL</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Connectivity: JDBC (SQL Connector/J)</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290750" y="919406"/>
            <a:ext cx="9234250" cy="7032694"/>
          </a:xfrm>
          <a:prstGeom prst="rect">
            <a:avLst/>
          </a:prstGeom>
          <a:noFill/>
        </p:spPr>
        <p:txBody>
          <a:bodyPr wrap="square" rtlCol="0">
            <a:spAutoFit/>
          </a:bodyPr>
          <a:lstStyle/>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Course Registration System uses a relational database to store all academic information in a structured manner.</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consists of four main tables:</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Student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Faculty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Course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Branch Table</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student is linked to one branch; each course belongs to one branch via foreign key relationships.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database ensures data integrity using primary keys, foreign keys, NOT NULL and UNIQUE constraints.</a:t>
            </a:r>
          </a:p>
          <a:p>
            <a:endParaRPr lang="en-IN" dirty="0"/>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533400" y="2005523"/>
            <a:ext cx="8366948" cy="646331"/>
          </a:xfrm>
          <a:prstGeom prst="rect">
            <a:avLst/>
          </a:prstGeom>
          <a:noFill/>
        </p:spPr>
        <p:txBody>
          <a:bodyPr wrap="square">
            <a:spAutoFit/>
          </a:bodyPr>
          <a:lstStyle/>
          <a:p>
            <a:r>
              <a:rPr lang="en-IN" b="1" dirty="0"/>
              <a:t>Branch Table :</a:t>
            </a:r>
          </a:p>
          <a:p>
            <a:r>
              <a:rPr lang="en-US" dirty="0"/>
              <a:t>			Stores academic branch/department details</a:t>
            </a:r>
            <a:endParaRPr lang="en-IN" b="1" dirty="0"/>
          </a:p>
        </p:txBody>
      </p:sp>
      <p:graphicFrame>
        <p:nvGraphicFramePr>
          <p:cNvPr id="15" name="Table 14">
            <a:extLst>
              <a:ext uri="{FF2B5EF4-FFF2-40B4-BE49-F238E27FC236}">
                <a16:creationId xmlns:a16="http://schemas.microsoft.com/office/drawing/2014/main" id="{7A2EBB8D-ECD5-E1A2-413F-793969B568BB}"/>
              </a:ext>
            </a:extLst>
          </p:cNvPr>
          <p:cNvGraphicFramePr>
            <a:graphicFrameLocks noGrp="1"/>
          </p:cNvGraphicFramePr>
          <p:nvPr>
            <p:extLst>
              <p:ext uri="{D42A27DB-BD31-4B8C-83A1-F6EECF244321}">
                <p14:modId xmlns:p14="http://schemas.microsoft.com/office/powerpoint/2010/main" val="79662347"/>
              </p:ext>
            </p:extLst>
          </p:nvPr>
        </p:nvGraphicFramePr>
        <p:xfrm>
          <a:off x="1219200" y="3007008"/>
          <a:ext cx="8077984" cy="3505200"/>
        </p:xfrm>
        <a:graphic>
          <a:graphicData uri="http://schemas.openxmlformats.org/drawingml/2006/table">
            <a:tbl>
              <a:tblPr firstRow="1" bandRow="1">
                <a:tableStyleId>{5C22544A-7EE6-4342-B048-85BDC9FD1C3A}</a:tableStyleId>
              </a:tblPr>
              <a:tblGrid>
                <a:gridCol w="2019496">
                  <a:extLst>
                    <a:ext uri="{9D8B030D-6E8A-4147-A177-3AD203B41FA5}">
                      <a16:colId xmlns:a16="http://schemas.microsoft.com/office/drawing/2014/main" val="2565518768"/>
                    </a:ext>
                  </a:extLst>
                </a:gridCol>
                <a:gridCol w="2019496">
                  <a:extLst>
                    <a:ext uri="{9D8B030D-6E8A-4147-A177-3AD203B41FA5}">
                      <a16:colId xmlns:a16="http://schemas.microsoft.com/office/drawing/2014/main" val="1063026024"/>
                    </a:ext>
                  </a:extLst>
                </a:gridCol>
                <a:gridCol w="2019496">
                  <a:extLst>
                    <a:ext uri="{9D8B030D-6E8A-4147-A177-3AD203B41FA5}">
                      <a16:colId xmlns:a16="http://schemas.microsoft.com/office/drawing/2014/main" val="2318603987"/>
                    </a:ext>
                  </a:extLst>
                </a:gridCol>
                <a:gridCol w="2019496">
                  <a:extLst>
                    <a:ext uri="{9D8B030D-6E8A-4147-A177-3AD203B41FA5}">
                      <a16:colId xmlns:a16="http://schemas.microsoft.com/office/drawing/2014/main" val="4086323780"/>
                    </a:ext>
                  </a:extLst>
                </a:gridCol>
              </a:tblGrid>
              <a:tr h="642914">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777565158"/>
                  </a:ext>
                </a:extLst>
              </a:tr>
              <a:tr h="642914">
                <a:tc>
                  <a:txBody>
                    <a:bodyPr/>
                    <a:lstStyle/>
                    <a:p>
                      <a:pPr>
                        <a:buNone/>
                      </a:pPr>
                      <a:r>
                        <a:rPr lang="en-IN"/>
                        <a:t>branch_id</a:t>
                      </a:r>
                    </a:p>
                  </a:txBody>
                  <a:tcPr anchor="ctr"/>
                </a:tc>
                <a:tc>
                  <a:txBody>
                    <a:bodyPr/>
                    <a:lstStyle/>
                    <a:p>
                      <a:pPr>
                        <a:buNone/>
                      </a:pPr>
                      <a:r>
                        <a:rPr lang="en-IN" dirty="0"/>
                        <a:t>INT</a:t>
                      </a:r>
                    </a:p>
                  </a:txBody>
                  <a:tcPr anchor="ctr"/>
                </a:tc>
                <a:tc>
                  <a:txBody>
                    <a:bodyPr/>
                    <a:lstStyle/>
                    <a:p>
                      <a:pPr>
                        <a:buNone/>
                      </a:pPr>
                      <a:r>
                        <a:rPr lang="en-IN"/>
                        <a:t>Primary Key</a:t>
                      </a:r>
                    </a:p>
                  </a:txBody>
                  <a:tcPr anchor="ctr"/>
                </a:tc>
                <a:tc>
                  <a:txBody>
                    <a:bodyPr/>
                    <a:lstStyle/>
                    <a:p>
                      <a:pPr>
                        <a:buNone/>
                      </a:pPr>
                      <a:r>
                        <a:rPr lang="en-IN"/>
                        <a:t>Branch ID</a:t>
                      </a:r>
                    </a:p>
                  </a:txBody>
                  <a:tcPr anchor="ctr"/>
                </a:tc>
                <a:extLst>
                  <a:ext uri="{0D108BD9-81ED-4DB2-BD59-A6C34878D82A}">
                    <a16:rowId xmlns:a16="http://schemas.microsoft.com/office/drawing/2014/main" val="3144488007"/>
                  </a:ext>
                </a:extLst>
              </a:tr>
              <a:tr h="1109686">
                <a:tc>
                  <a:txBody>
                    <a:bodyPr/>
                    <a:lstStyle/>
                    <a:p>
                      <a:pPr>
                        <a:buNone/>
                      </a:pPr>
                      <a:r>
                        <a:rPr lang="en-IN"/>
                        <a:t>branch_name</a:t>
                      </a:r>
                    </a:p>
                  </a:txBody>
                  <a:tcPr anchor="ctr"/>
                </a:tc>
                <a:tc>
                  <a:txBody>
                    <a:bodyPr/>
                    <a:lstStyle/>
                    <a:p>
                      <a:pPr>
                        <a:buNone/>
                      </a:pPr>
                      <a:r>
                        <a:rPr lang="en-IN"/>
                        <a:t>VARCHAR(50)</a:t>
                      </a:r>
                    </a:p>
                  </a:txBody>
                  <a:tcPr anchor="ctr"/>
                </a:tc>
                <a:tc>
                  <a:txBody>
                    <a:bodyPr/>
                    <a:lstStyle/>
                    <a:p>
                      <a:pPr>
                        <a:buNone/>
                      </a:pPr>
                      <a:r>
                        <a:rPr lang="en-IN"/>
                        <a:t>—</a:t>
                      </a:r>
                    </a:p>
                  </a:txBody>
                  <a:tcPr anchor="ctr"/>
                </a:tc>
                <a:tc>
                  <a:txBody>
                    <a:bodyPr/>
                    <a:lstStyle/>
                    <a:p>
                      <a:pPr>
                        <a:buNone/>
                      </a:pPr>
                      <a:r>
                        <a:rPr lang="en-IN"/>
                        <a:t>Branch Name</a:t>
                      </a:r>
                    </a:p>
                  </a:txBody>
                  <a:tcPr anchor="ctr"/>
                </a:tc>
                <a:extLst>
                  <a:ext uri="{0D108BD9-81ED-4DB2-BD59-A6C34878D82A}">
                    <a16:rowId xmlns:a16="http://schemas.microsoft.com/office/drawing/2014/main" val="2379907431"/>
                  </a:ext>
                </a:extLst>
              </a:tr>
              <a:tr h="1109686">
                <a:tc>
                  <a:txBody>
                    <a:bodyPr/>
                    <a:lstStyle/>
                    <a:p>
                      <a:pPr>
                        <a:buNone/>
                      </a:pPr>
                      <a:r>
                        <a:rPr lang="en-IN"/>
                        <a:t>—</a:t>
                      </a:r>
                    </a:p>
                  </a:txBody>
                  <a:tcPr anchor="ctr"/>
                </a:tc>
                <a:tc>
                  <a:txBody>
                    <a:bodyPr/>
                    <a:lstStyle/>
                    <a:p>
                      <a:pPr>
                        <a:buNone/>
                      </a:pPr>
                      <a:r>
                        <a:rPr lang="en-IN"/>
                        <a:t>NOT NULL</a:t>
                      </a:r>
                    </a:p>
                  </a:txBody>
                  <a:tcPr anchor="ctr"/>
                </a:tc>
                <a:tc>
                  <a:txBody>
                    <a:bodyPr/>
                    <a:lstStyle/>
                    <a:p>
                      <a:pPr>
                        <a:buNone/>
                      </a:pPr>
                      <a:r>
                        <a:rPr lang="en-IN"/>
                        <a:t>—</a:t>
                      </a:r>
                    </a:p>
                  </a:txBody>
                  <a:tcPr anchor="ctr"/>
                </a:tc>
                <a:tc>
                  <a:txBody>
                    <a:bodyPr/>
                    <a:lstStyle/>
                    <a:p>
                      <a:pPr>
                        <a:buNone/>
                      </a:pPr>
                      <a:r>
                        <a:rPr lang="en-IN" dirty="0"/>
                        <a:t>Cannot be empty</a:t>
                      </a:r>
                    </a:p>
                  </a:txBody>
                  <a:tcPr anchor="ctr"/>
                </a:tc>
                <a:extLst>
                  <a:ext uri="{0D108BD9-81ED-4DB2-BD59-A6C34878D82A}">
                    <a16:rowId xmlns:a16="http://schemas.microsoft.com/office/drawing/2014/main" val="1832366527"/>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533400" y="2005523"/>
            <a:ext cx="8366948" cy="646331"/>
          </a:xfrm>
          <a:prstGeom prst="rect">
            <a:avLst/>
          </a:prstGeom>
          <a:noFill/>
        </p:spPr>
        <p:txBody>
          <a:bodyPr wrap="square">
            <a:spAutoFit/>
          </a:bodyPr>
          <a:lstStyle/>
          <a:p>
            <a:r>
              <a:rPr lang="en-IN" b="1" dirty="0"/>
              <a:t>Course</a:t>
            </a:r>
            <a:r>
              <a:rPr lang="en-IN" dirty="0"/>
              <a:t> </a:t>
            </a:r>
            <a:r>
              <a:rPr lang="en-IN" b="1" dirty="0"/>
              <a:t>Table :</a:t>
            </a:r>
          </a:p>
          <a:p>
            <a:r>
              <a:rPr lang="en-US" dirty="0"/>
              <a:t>	</a:t>
            </a:r>
            <a:r>
              <a:rPr lang="en-IN" dirty="0"/>
              <a:t>Stores course details linked to academic branches</a:t>
            </a:r>
            <a:endParaRPr lang="en-IN" b="1" dirty="0"/>
          </a:p>
        </p:txBody>
      </p:sp>
      <p:graphicFrame>
        <p:nvGraphicFramePr>
          <p:cNvPr id="15" name="Table 14">
            <a:extLst>
              <a:ext uri="{FF2B5EF4-FFF2-40B4-BE49-F238E27FC236}">
                <a16:creationId xmlns:a16="http://schemas.microsoft.com/office/drawing/2014/main" id="{C4CD2BA1-FBEB-D591-1D32-2516A6652B92}"/>
              </a:ext>
            </a:extLst>
          </p:cNvPr>
          <p:cNvGraphicFramePr>
            <a:graphicFrameLocks noGrp="1"/>
          </p:cNvGraphicFramePr>
          <p:nvPr>
            <p:extLst>
              <p:ext uri="{D42A27DB-BD31-4B8C-83A1-F6EECF244321}">
                <p14:modId xmlns:p14="http://schemas.microsoft.com/office/powerpoint/2010/main" val="2824987036"/>
              </p:ext>
            </p:extLst>
          </p:nvPr>
        </p:nvGraphicFramePr>
        <p:xfrm>
          <a:off x="1295400" y="3007008"/>
          <a:ext cx="8001784" cy="3317591"/>
        </p:xfrm>
        <a:graphic>
          <a:graphicData uri="http://schemas.openxmlformats.org/drawingml/2006/table">
            <a:tbl>
              <a:tblPr firstRow="1" bandRow="1">
                <a:tableStyleId>{5C22544A-7EE6-4342-B048-85BDC9FD1C3A}</a:tableStyleId>
              </a:tblPr>
              <a:tblGrid>
                <a:gridCol w="2000446">
                  <a:extLst>
                    <a:ext uri="{9D8B030D-6E8A-4147-A177-3AD203B41FA5}">
                      <a16:colId xmlns:a16="http://schemas.microsoft.com/office/drawing/2014/main" val="2565518768"/>
                    </a:ext>
                  </a:extLst>
                </a:gridCol>
                <a:gridCol w="2000446">
                  <a:extLst>
                    <a:ext uri="{9D8B030D-6E8A-4147-A177-3AD203B41FA5}">
                      <a16:colId xmlns:a16="http://schemas.microsoft.com/office/drawing/2014/main" val="1063026024"/>
                    </a:ext>
                  </a:extLst>
                </a:gridCol>
                <a:gridCol w="2000446">
                  <a:extLst>
                    <a:ext uri="{9D8B030D-6E8A-4147-A177-3AD203B41FA5}">
                      <a16:colId xmlns:a16="http://schemas.microsoft.com/office/drawing/2014/main" val="2318603987"/>
                    </a:ext>
                  </a:extLst>
                </a:gridCol>
                <a:gridCol w="2000446">
                  <a:extLst>
                    <a:ext uri="{9D8B030D-6E8A-4147-A177-3AD203B41FA5}">
                      <a16:colId xmlns:a16="http://schemas.microsoft.com/office/drawing/2014/main" val="4086323780"/>
                    </a:ext>
                  </a:extLst>
                </a:gridCol>
              </a:tblGrid>
              <a:tr h="462184">
                <a:tc>
                  <a:txBody>
                    <a:bodyPr/>
                    <a:lstStyle/>
                    <a:p>
                      <a:pPr>
                        <a:buNone/>
                      </a:pPr>
                      <a:r>
                        <a:rPr lang="en-IN"/>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777565158"/>
                  </a:ext>
                </a:extLst>
              </a:tr>
              <a:tr h="462184">
                <a:tc>
                  <a:txBody>
                    <a:bodyPr/>
                    <a:lstStyle/>
                    <a:p>
                      <a:pPr>
                        <a:buNone/>
                      </a:pPr>
                      <a:r>
                        <a:rPr lang="en-IN"/>
                        <a:t>course_id</a:t>
                      </a:r>
                    </a:p>
                  </a:txBody>
                  <a:tcPr anchor="ctr"/>
                </a:tc>
                <a:tc>
                  <a:txBody>
                    <a:bodyPr/>
                    <a:lstStyle/>
                    <a:p>
                      <a:pPr>
                        <a:buNone/>
                      </a:pPr>
                      <a:r>
                        <a:rPr lang="en-IN" dirty="0"/>
                        <a:t>INT</a:t>
                      </a:r>
                    </a:p>
                  </a:txBody>
                  <a:tcPr anchor="ctr"/>
                </a:tc>
                <a:tc>
                  <a:txBody>
                    <a:bodyPr/>
                    <a:lstStyle/>
                    <a:p>
                      <a:pPr>
                        <a:buNone/>
                      </a:pPr>
                      <a:r>
                        <a:rPr lang="en-IN"/>
                        <a:t>Primary Key</a:t>
                      </a:r>
                    </a:p>
                  </a:txBody>
                  <a:tcPr anchor="ctr"/>
                </a:tc>
                <a:tc>
                  <a:txBody>
                    <a:bodyPr/>
                    <a:lstStyle/>
                    <a:p>
                      <a:pPr>
                        <a:buNone/>
                      </a:pPr>
                      <a:r>
                        <a:rPr lang="en-IN"/>
                        <a:t>Course ID</a:t>
                      </a:r>
                    </a:p>
                  </a:txBody>
                  <a:tcPr anchor="ctr"/>
                </a:tc>
                <a:extLst>
                  <a:ext uri="{0D108BD9-81ED-4DB2-BD59-A6C34878D82A}">
                    <a16:rowId xmlns:a16="http://schemas.microsoft.com/office/drawing/2014/main" val="3144488007"/>
                  </a:ext>
                </a:extLst>
              </a:tr>
              <a:tr h="797741">
                <a:tc>
                  <a:txBody>
                    <a:bodyPr/>
                    <a:lstStyle/>
                    <a:p>
                      <a:pPr>
                        <a:buNone/>
                      </a:pPr>
                      <a:r>
                        <a:rPr lang="en-IN"/>
                        <a:t>course_name</a:t>
                      </a:r>
                    </a:p>
                  </a:txBody>
                  <a:tcPr anchor="ctr"/>
                </a:tc>
                <a:tc>
                  <a:txBody>
                    <a:bodyPr/>
                    <a:lstStyle/>
                    <a:p>
                      <a:pPr>
                        <a:buNone/>
                      </a:pPr>
                      <a:r>
                        <a:rPr lang="en-IN"/>
                        <a:t>VARCHAR(50)</a:t>
                      </a:r>
                    </a:p>
                  </a:txBody>
                  <a:tcPr anchor="ctr"/>
                </a:tc>
                <a:tc>
                  <a:txBody>
                    <a:bodyPr/>
                    <a:lstStyle/>
                    <a:p>
                      <a:pPr>
                        <a:buNone/>
                      </a:pPr>
                      <a:r>
                        <a:rPr lang="en-IN"/>
                        <a:t>—</a:t>
                      </a:r>
                    </a:p>
                  </a:txBody>
                  <a:tcPr anchor="ctr"/>
                </a:tc>
                <a:tc>
                  <a:txBody>
                    <a:bodyPr/>
                    <a:lstStyle/>
                    <a:p>
                      <a:pPr>
                        <a:buNone/>
                      </a:pPr>
                      <a:r>
                        <a:rPr lang="en-IN"/>
                        <a:t>Course Name</a:t>
                      </a:r>
                    </a:p>
                  </a:txBody>
                  <a:tcPr anchor="ctr"/>
                </a:tc>
                <a:extLst>
                  <a:ext uri="{0D108BD9-81ED-4DB2-BD59-A6C34878D82A}">
                    <a16:rowId xmlns:a16="http://schemas.microsoft.com/office/drawing/2014/main" val="2379907431"/>
                  </a:ext>
                </a:extLst>
              </a:tr>
              <a:tr h="797741">
                <a:tc>
                  <a:txBody>
                    <a:bodyPr/>
                    <a:lstStyle/>
                    <a:p>
                      <a:pPr>
                        <a:buNone/>
                      </a:pPr>
                      <a:r>
                        <a:rPr lang="en-IN"/>
                        <a:t>credits</a:t>
                      </a:r>
                    </a:p>
                  </a:txBody>
                  <a:tcPr anchor="ctr"/>
                </a:tc>
                <a:tc>
                  <a:txBody>
                    <a:bodyPr/>
                    <a:lstStyle/>
                    <a:p>
                      <a:pPr>
                        <a:buNone/>
                      </a:pPr>
                      <a:r>
                        <a:rPr lang="en-IN"/>
                        <a:t>INT</a:t>
                      </a:r>
                    </a:p>
                  </a:txBody>
                  <a:tcPr anchor="ctr"/>
                </a:tc>
                <a:tc>
                  <a:txBody>
                    <a:bodyPr/>
                    <a:lstStyle/>
                    <a:p>
                      <a:pPr>
                        <a:buNone/>
                      </a:pPr>
                      <a:r>
                        <a:rPr lang="en-IN"/>
                        <a:t>—</a:t>
                      </a:r>
                    </a:p>
                  </a:txBody>
                  <a:tcPr anchor="ctr"/>
                </a:tc>
                <a:tc>
                  <a:txBody>
                    <a:bodyPr/>
                    <a:lstStyle/>
                    <a:p>
                      <a:pPr>
                        <a:buNone/>
                      </a:pPr>
                      <a:r>
                        <a:rPr lang="en-IN" dirty="0"/>
                        <a:t>Credit Hours</a:t>
                      </a:r>
                    </a:p>
                  </a:txBody>
                  <a:tcPr anchor="ctr"/>
                </a:tc>
                <a:extLst>
                  <a:ext uri="{0D108BD9-81ED-4DB2-BD59-A6C34878D82A}">
                    <a16:rowId xmlns:a16="http://schemas.microsoft.com/office/drawing/2014/main" val="1832366527"/>
                  </a:ext>
                </a:extLst>
              </a:tr>
              <a:tr h="797741">
                <a:tc>
                  <a:txBody>
                    <a:bodyPr/>
                    <a:lstStyle/>
                    <a:p>
                      <a:pPr>
                        <a:buNone/>
                      </a:pPr>
                      <a:r>
                        <a:rPr lang="en-IN" dirty="0"/>
                        <a:t>deadline</a:t>
                      </a:r>
                    </a:p>
                  </a:txBody>
                  <a:tcPr anchor="ctr"/>
                </a:tc>
                <a:tc>
                  <a:txBody>
                    <a:bodyPr/>
                    <a:lstStyle/>
                    <a:p>
                      <a:pPr>
                        <a:buNone/>
                      </a:pPr>
                      <a:r>
                        <a:rPr lang="en-IN" dirty="0"/>
                        <a:t>DATE</a:t>
                      </a:r>
                    </a:p>
                  </a:txBody>
                  <a:tcPr anchor="ctr"/>
                </a:tc>
                <a:tc>
                  <a:txBody>
                    <a:bodyPr/>
                    <a:lstStyle/>
                    <a:p>
                      <a:pPr>
                        <a:buNone/>
                      </a:pPr>
                      <a:r>
                        <a:rPr lang="en-IN" dirty="0"/>
                        <a:t>_</a:t>
                      </a:r>
                    </a:p>
                  </a:txBody>
                  <a:tcPr anchor="ctr"/>
                </a:tc>
                <a:tc>
                  <a:txBody>
                    <a:bodyPr/>
                    <a:lstStyle/>
                    <a:p>
                      <a:pPr>
                        <a:buNone/>
                      </a:pPr>
                      <a:r>
                        <a:rPr lang="en-IN" dirty="0"/>
                        <a:t>Deadline date</a:t>
                      </a:r>
                    </a:p>
                  </a:txBody>
                  <a:tcPr anchor="ctr"/>
                </a:tc>
                <a:extLst>
                  <a:ext uri="{0D108BD9-81ED-4DB2-BD59-A6C34878D82A}">
                    <a16:rowId xmlns:a16="http://schemas.microsoft.com/office/drawing/2014/main" val="1185663737"/>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533400" y="2005523"/>
            <a:ext cx="8366948" cy="646331"/>
          </a:xfrm>
          <a:prstGeom prst="rect">
            <a:avLst/>
          </a:prstGeom>
          <a:noFill/>
        </p:spPr>
        <p:txBody>
          <a:bodyPr wrap="square">
            <a:spAutoFit/>
          </a:bodyPr>
          <a:lstStyle/>
          <a:p>
            <a:r>
              <a:rPr lang="en-IN" b="1" dirty="0"/>
              <a:t>Student Table :</a:t>
            </a:r>
          </a:p>
          <a:p>
            <a:r>
              <a:rPr lang="en-US" dirty="0"/>
              <a:t>		Stores student credentials and branch assignment</a:t>
            </a:r>
            <a:endParaRPr lang="en-IN" b="1" dirty="0"/>
          </a:p>
        </p:txBody>
      </p:sp>
      <p:graphicFrame>
        <p:nvGraphicFramePr>
          <p:cNvPr id="3" name="Table 2">
            <a:extLst>
              <a:ext uri="{FF2B5EF4-FFF2-40B4-BE49-F238E27FC236}">
                <a16:creationId xmlns:a16="http://schemas.microsoft.com/office/drawing/2014/main" id="{31F6B0F5-0FDB-2059-BAAA-EC98BE885AE3}"/>
              </a:ext>
            </a:extLst>
          </p:cNvPr>
          <p:cNvGraphicFramePr>
            <a:graphicFrameLocks noGrp="1"/>
          </p:cNvGraphicFramePr>
          <p:nvPr>
            <p:extLst>
              <p:ext uri="{D42A27DB-BD31-4B8C-83A1-F6EECF244321}">
                <p14:modId xmlns:p14="http://schemas.microsoft.com/office/powerpoint/2010/main" val="2231585246"/>
              </p:ext>
            </p:extLst>
          </p:nvPr>
        </p:nvGraphicFramePr>
        <p:xfrm>
          <a:off x="1440742" y="2879663"/>
          <a:ext cx="7924800" cy="3576934"/>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843935576"/>
                    </a:ext>
                  </a:extLst>
                </a:gridCol>
                <a:gridCol w="1981200">
                  <a:extLst>
                    <a:ext uri="{9D8B030D-6E8A-4147-A177-3AD203B41FA5}">
                      <a16:colId xmlns:a16="http://schemas.microsoft.com/office/drawing/2014/main" val="435965065"/>
                    </a:ext>
                  </a:extLst>
                </a:gridCol>
                <a:gridCol w="1981200">
                  <a:extLst>
                    <a:ext uri="{9D8B030D-6E8A-4147-A177-3AD203B41FA5}">
                      <a16:colId xmlns:a16="http://schemas.microsoft.com/office/drawing/2014/main" val="508337157"/>
                    </a:ext>
                  </a:extLst>
                </a:gridCol>
                <a:gridCol w="1981200">
                  <a:extLst>
                    <a:ext uri="{9D8B030D-6E8A-4147-A177-3AD203B41FA5}">
                      <a16:colId xmlns:a16="http://schemas.microsoft.com/office/drawing/2014/main" val="1121942475"/>
                    </a:ext>
                  </a:extLst>
                </a:gridCol>
              </a:tblGrid>
              <a:tr h="578859">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348740825"/>
                  </a:ext>
                </a:extLst>
              </a:tr>
              <a:tr h="578859">
                <a:tc>
                  <a:txBody>
                    <a:bodyPr/>
                    <a:lstStyle/>
                    <a:p>
                      <a:pPr>
                        <a:buNone/>
                      </a:pPr>
                      <a:r>
                        <a:rPr lang="en-IN"/>
                        <a:t>student_id</a:t>
                      </a:r>
                    </a:p>
                  </a:txBody>
                  <a:tcPr anchor="ctr"/>
                </a:tc>
                <a:tc>
                  <a:txBody>
                    <a:bodyPr/>
                    <a:lstStyle/>
                    <a:p>
                      <a:pPr>
                        <a:buNone/>
                      </a:pPr>
                      <a:r>
                        <a:rPr lang="en-IN"/>
                        <a:t>INT</a:t>
                      </a:r>
                    </a:p>
                  </a:txBody>
                  <a:tcPr anchor="ctr"/>
                </a:tc>
                <a:tc>
                  <a:txBody>
                    <a:bodyPr/>
                    <a:lstStyle/>
                    <a:p>
                      <a:pPr>
                        <a:buNone/>
                      </a:pPr>
                      <a:r>
                        <a:rPr lang="en-IN"/>
                        <a:t>Primary Key</a:t>
                      </a:r>
                    </a:p>
                  </a:txBody>
                  <a:tcPr anchor="ctr"/>
                </a:tc>
                <a:tc>
                  <a:txBody>
                    <a:bodyPr/>
                    <a:lstStyle/>
                    <a:p>
                      <a:pPr>
                        <a:buNone/>
                      </a:pPr>
                      <a:r>
                        <a:rPr lang="en-IN"/>
                        <a:t>Student ID</a:t>
                      </a:r>
                    </a:p>
                  </a:txBody>
                  <a:tcPr anchor="ctr"/>
                </a:tc>
                <a:extLst>
                  <a:ext uri="{0D108BD9-81ED-4DB2-BD59-A6C34878D82A}">
                    <a16:rowId xmlns:a16="http://schemas.microsoft.com/office/drawing/2014/main" val="793349371"/>
                  </a:ext>
                </a:extLst>
              </a:tr>
              <a:tr h="578859">
                <a:tc>
                  <a:txBody>
                    <a:bodyPr/>
                    <a:lstStyle/>
                    <a:p>
                      <a:pPr>
                        <a:buNone/>
                      </a:pPr>
                      <a:r>
                        <a:rPr lang="en-IN"/>
                        <a:t>username</a:t>
                      </a:r>
                    </a:p>
                  </a:txBody>
                  <a:tcPr anchor="ctr"/>
                </a:tc>
                <a:tc>
                  <a:txBody>
                    <a:bodyPr/>
                    <a:lstStyle/>
                    <a:p>
                      <a:pPr>
                        <a:buNone/>
                      </a:pPr>
                      <a:r>
                        <a:rPr lang="en-IN"/>
                        <a:t>VARCHAR(50)</a:t>
                      </a:r>
                    </a:p>
                  </a:txBody>
                  <a:tcPr anchor="ctr"/>
                </a:tc>
                <a:tc>
                  <a:txBody>
                    <a:bodyPr/>
                    <a:lstStyle/>
                    <a:p>
                      <a:pPr>
                        <a:buNone/>
                      </a:pPr>
                      <a:r>
                        <a:rPr lang="en-IN"/>
                        <a:t>—</a:t>
                      </a:r>
                    </a:p>
                  </a:txBody>
                  <a:tcPr anchor="ctr"/>
                </a:tc>
                <a:tc>
                  <a:txBody>
                    <a:bodyPr/>
                    <a:lstStyle/>
                    <a:p>
                      <a:pPr>
                        <a:buNone/>
                      </a:pPr>
                      <a:r>
                        <a:rPr lang="en-IN"/>
                        <a:t>Login Username</a:t>
                      </a:r>
                    </a:p>
                  </a:txBody>
                  <a:tcPr anchor="ctr"/>
                </a:tc>
                <a:extLst>
                  <a:ext uri="{0D108BD9-81ED-4DB2-BD59-A6C34878D82A}">
                    <a16:rowId xmlns:a16="http://schemas.microsoft.com/office/drawing/2014/main" val="1597805091"/>
                  </a:ext>
                </a:extLst>
              </a:tr>
              <a:tr h="570929">
                <a:tc>
                  <a:txBody>
                    <a:bodyPr/>
                    <a:lstStyle/>
                    <a:p>
                      <a:pPr>
                        <a:buNone/>
                      </a:pPr>
                      <a:r>
                        <a:rPr lang="en-IN"/>
                        <a:t>password</a:t>
                      </a:r>
                    </a:p>
                  </a:txBody>
                  <a:tcPr anchor="ctr"/>
                </a:tc>
                <a:tc>
                  <a:txBody>
                    <a:bodyPr/>
                    <a:lstStyle/>
                    <a:p>
                      <a:pPr>
                        <a:buNone/>
                      </a:pPr>
                      <a:r>
                        <a:rPr lang="en-IN"/>
                        <a:t>VARCHAR(50)</a:t>
                      </a:r>
                    </a:p>
                  </a:txBody>
                  <a:tcPr anchor="ctr"/>
                </a:tc>
                <a:tc>
                  <a:txBody>
                    <a:bodyPr/>
                    <a:lstStyle/>
                    <a:p>
                      <a:pPr>
                        <a:buNone/>
                      </a:pPr>
                      <a:r>
                        <a:rPr lang="en-IN"/>
                        <a:t>—</a:t>
                      </a:r>
                    </a:p>
                  </a:txBody>
                  <a:tcPr anchor="ctr"/>
                </a:tc>
                <a:tc>
                  <a:txBody>
                    <a:bodyPr/>
                    <a:lstStyle/>
                    <a:p>
                      <a:pPr>
                        <a:buNone/>
                      </a:pPr>
                      <a:r>
                        <a:rPr lang="en-IN"/>
                        <a:t>Login Password</a:t>
                      </a:r>
                    </a:p>
                  </a:txBody>
                  <a:tcPr anchor="ctr"/>
                </a:tc>
                <a:extLst>
                  <a:ext uri="{0D108BD9-81ED-4DB2-BD59-A6C34878D82A}">
                    <a16:rowId xmlns:a16="http://schemas.microsoft.com/office/drawing/2014/main" val="915615743"/>
                  </a:ext>
                </a:extLst>
              </a:tr>
              <a:tr h="570929">
                <a:tc>
                  <a:txBody>
                    <a:bodyPr/>
                    <a:lstStyle/>
                    <a:p>
                      <a:pPr>
                        <a:buNone/>
                      </a:pPr>
                      <a:r>
                        <a:rPr lang="en-IN"/>
                        <a:t>email</a:t>
                      </a:r>
                    </a:p>
                  </a:txBody>
                  <a:tcPr anchor="ctr"/>
                </a:tc>
                <a:tc>
                  <a:txBody>
                    <a:bodyPr/>
                    <a:lstStyle/>
                    <a:p>
                      <a:pPr>
                        <a:buNone/>
                      </a:pPr>
                      <a:r>
                        <a:rPr lang="en-IN"/>
                        <a:t>VARCHAR(100)</a:t>
                      </a:r>
                    </a:p>
                  </a:txBody>
                  <a:tcPr anchor="ctr"/>
                </a:tc>
                <a:tc>
                  <a:txBody>
                    <a:bodyPr/>
                    <a:lstStyle/>
                    <a:p>
                      <a:pPr>
                        <a:buNone/>
                      </a:pPr>
                      <a:r>
                        <a:rPr lang="en-IN"/>
                        <a:t>—</a:t>
                      </a:r>
                    </a:p>
                  </a:txBody>
                  <a:tcPr anchor="ctr"/>
                </a:tc>
                <a:tc>
                  <a:txBody>
                    <a:bodyPr/>
                    <a:lstStyle/>
                    <a:p>
                      <a:pPr>
                        <a:buNone/>
                      </a:pPr>
                      <a:r>
                        <a:rPr lang="en-IN"/>
                        <a:t>Email Address</a:t>
                      </a:r>
                    </a:p>
                  </a:txBody>
                  <a:tcPr anchor="ctr"/>
                </a:tc>
                <a:extLst>
                  <a:ext uri="{0D108BD9-81ED-4DB2-BD59-A6C34878D82A}">
                    <a16:rowId xmlns:a16="http://schemas.microsoft.com/office/drawing/2014/main" val="2033003038"/>
                  </a:ext>
                </a:extLst>
              </a:tr>
              <a:tr h="698499">
                <a:tc>
                  <a:txBody>
                    <a:bodyPr/>
                    <a:lstStyle/>
                    <a:p>
                      <a:pPr>
                        <a:buNone/>
                      </a:pPr>
                      <a:r>
                        <a:rPr lang="en-IN"/>
                        <a:t>branch_id</a:t>
                      </a:r>
                    </a:p>
                  </a:txBody>
                  <a:tcPr anchor="ctr"/>
                </a:tc>
                <a:tc>
                  <a:txBody>
                    <a:bodyPr/>
                    <a:lstStyle/>
                    <a:p>
                      <a:pPr>
                        <a:buNone/>
                      </a:pPr>
                      <a:r>
                        <a:rPr lang="en-IN"/>
                        <a:t>INT</a:t>
                      </a:r>
                    </a:p>
                  </a:txBody>
                  <a:tcPr anchor="ctr"/>
                </a:tc>
                <a:tc>
                  <a:txBody>
                    <a:bodyPr/>
                    <a:lstStyle/>
                    <a:p>
                      <a:pPr>
                        <a:buNone/>
                      </a:pPr>
                      <a:r>
                        <a:rPr lang="en-IN"/>
                        <a:t>Foreign Key</a:t>
                      </a:r>
                    </a:p>
                  </a:txBody>
                  <a:tcPr anchor="ctr"/>
                </a:tc>
                <a:tc>
                  <a:txBody>
                    <a:bodyPr/>
                    <a:lstStyle/>
                    <a:p>
                      <a:pPr>
                        <a:buNone/>
                      </a:pPr>
                      <a:r>
                        <a:rPr lang="en-IN"/>
                        <a:t>References Branch</a:t>
                      </a:r>
                    </a:p>
                  </a:txBody>
                  <a:tcPr anchor="ctr"/>
                </a:tc>
                <a:extLst>
                  <a:ext uri="{0D108BD9-81ED-4DB2-BD59-A6C34878D82A}">
                    <a16:rowId xmlns:a16="http://schemas.microsoft.com/office/drawing/2014/main" val="328272867"/>
                  </a:ext>
                </a:extLst>
              </a:tr>
            </a:tbl>
          </a:graphicData>
        </a:graphic>
      </p:graphicFrame>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DFE6-68D0-626B-CEA5-012AC4CE06D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6AB6B8D9-907C-14D3-FE13-17C6E6CA573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F2F8D3D4-7414-5BC2-228C-E9103C17FB7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960E6045-C32B-45CA-9E5F-2D8B9813510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41BB376-4DAB-084D-64E6-3760EA8F9DD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E4FAF633-2235-2851-C3E8-F177ABCCA2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3F3E476-DF9A-C6ED-BCF5-6782970F311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6F5A8444-086B-9125-6392-B400175A6B5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FE2C5A62-55CB-BE52-28C1-9826A4970DAA}"/>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7F5AECAB-ADA0-137A-8F14-77698E44A825}"/>
              </a:ext>
            </a:extLst>
          </p:cNvPr>
          <p:cNvSpPr txBox="1"/>
          <p:nvPr/>
        </p:nvSpPr>
        <p:spPr>
          <a:xfrm>
            <a:off x="533400" y="2005523"/>
            <a:ext cx="8366948" cy="646331"/>
          </a:xfrm>
          <a:prstGeom prst="rect">
            <a:avLst/>
          </a:prstGeom>
          <a:noFill/>
        </p:spPr>
        <p:txBody>
          <a:bodyPr wrap="square">
            <a:spAutoFit/>
          </a:bodyPr>
          <a:lstStyle/>
          <a:p>
            <a:r>
              <a:rPr lang="en-IN" b="1" dirty="0"/>
              <a:t>Faculty Table :</a:t>
            </a:r>
          </a:p>
          <a:p>
            <a:r>
              <a:rPr lang="en-US" dirty="0"/>
              <a:t>		Stores student course enrollment records</a:t>
            </a:r>
            <a:endParaRPr lang="en-IN" b="1" dirty="0"/>
          </a:p>
        </p:txBody>
      </p:sp>
      <p:graphicFrame>
        <p:nvGraphicFramePr>
          <p:cNvPr id="3" name="Table 2">
            <a:extLst>
              <a:ext uri="{FF2B5EF4-FFF2-40B4-BE49-F238E27FC236}">
                <a16:creationId xmlns:a16="http://schemas.microsoft.com/office/drawing/2014/main" id="{ECE2212A-37A1-89A7-A746-64DED323801A}"/>
              </a:ext>
            </a:extLst>
          </p:cNvPr>
          <p:cNvGraphicFramePr>
            <a:graphicFrameLocks noGrp="1"/>
          </p:cNvGraphicFramePr>
          <p:nvPr>
            <p:extLst>
              <p:ext uri="{D42A27DB-BD31-4B8C-83A1-F6EECF244321}">
                <p14:modId xmlns:p14="http://schemas.microsoft.com/office/powerpoint/2010/main" val="1347690544"/>
              </p:ext>
            </p:extLst>
          </p:nvPr>
        </p:nvGraphicFramePr>
        <p:xfrm>
          <a:off x="1529390" y="2857360"/>
          <a:ext cx="7767008" cy="2635012"/>
        </p:xfrm>
        <a:graphic>
          <a:graphicData uri="http://schemas.openxmlformats.org/drawingml/2006/table">
            <a:tbl>
              <a:tblPr firstRow="1" bandRow="1">
                <a:tableStyleId>{5C22544A-7EE6-4342-B048-85BDC9FD1C3A}</a:tableStyleId>
              </a:tblPr>
              <a:tblGrid>
                <a:gridCol w="1941752">
                  <a:extLst>
                    <a:ext uri="{9D8B030D-6E8A-4147-A177-3AD203B41FA5}">
                      <a16:colId xmlns:a16="http://schemas.microsoft.com/office/drawing/2014/main" val="3202670111"/>
                    </a:ext>
                  </a:extLst>
                </a:gridCol>
                <a:gridCol w="1941752">
                  <a:extLst>
                    <a:ext uri="{9D8B030D-6E8A-4147-A177-3AD203B41FA5}">
                      <a16:colId xmlns:a16="http://schemas.microsoft.com/office/drawing/2014/main" val="4006832804"/>
                    </a:ext>
                  </a:extLst>
                </a:gridCol>
                <a:gridCol w="1941752">
                  <a:extLst>
                    <a:ext uri="{9D8B030D-6E8A-4147-A177-3AD203B41FA5}">
                      <a16:colId xmlns:a16="http://schemas.microsoft.com/office/drawing/2014/main" val="264281203"/>
                    </a:ext>
                  </a:extLst>
                </a:gridCol>
                <a:gridCol w="1941752">
                  <a:extLst>
                    <a:ext uri="{9D8B030D-6E8A-4147-A177-3AD203B41FA5}">
                      <a16:colId xmlns:a16="http://schemas.microsoft.com/office/drawing/2014/main" val="1629121304"/>
                    </a:ext>
                  </a:extLst>
                </a:gridCol>
              </a:tblGrid>
              <a:tr h="658753">
                <a:tc>
                  <a:txBody>
                    <a:bodyPr/>
                    <a:lstStyle/>
                    <a:p>
                      <a:pPr>
                        <a:buNone/>
                      </a:pPr>
                      <a:r>
                        <a:rPr lang="en-IN"/>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572804198"/>
                  </a:ext>
                </a:extLst>
              </a:tr>
              <a:tr h="658753">
                <a:tc>
                  <a:txBody>
                    <a:bodyPr/>
                    <a:lstStyle/>
                    <a:p>
                      <a:pPr>
                        <a:buNone/>
                      </a:pPr>
                      <a:r>
                        <a:rPr lang="en-IN" dirty="0" err="1"/>
                        <a:t>Faculty_id</a:t>
                      </a:r>
                      <a:endParaRPr lang="en-IN" dirty="0"/>
                    </a:p>
                  </a:txBody>
                  <a:tcPr anchor="ctr"/>
                </a:tc>
                <a:tc>
                  <a:txBody>
                    <a:bodyPr/>
                    <a:lstStyle/>
                    <a:p>
                      <a:pPr>
                        <a:buNone/>
                      </a:pPr>
                      <a:r>
                        <a:rPr lang="en-IN"/>
                        <a:t>INT</a:t>
                      </a:r>
                    </a:p>
                  </a:txBody>
                  <a:tcPr anchor="ctr"/>
                </a:tc>
                <a:tc>
                  <a:txBody>
                    <a:bodyPr/>
                    <a:lstStyle/>
                    <a:p>
                      <a:pPr>
                        <a:buNone/>
                      </a:pPr>
                      <a:r>
                        <a:rPr lang="en-IN"/>
                        <a:t>Primary Key</a:t>
                      </a:r>
                    </a:p>
                  </a:txBody>
                  <a:tcPr anchor="ctr"/>
                </a:tc>
                <a:tc>
                  <a:txBody>
                    <a:bodyPr/>
                    <a:lstStyle/>
                    <a:p>
                      <a:pPr>
                        <a:buNone/>
                      </a:pPr>
                      <a:r>
                        <a:rPr lang="en-IN" dirty="0"/>
                        <a:t>Faculty ID</a:t>
                      </a:r>
                    </a:p>
                  </a:txBody>
                  <a:tcPr anchor="ctr"/>
                </a:tc>
                <a:extLst>
                  <a:ext uri="{0D108BD9-81ED-4DB2-BD59-A6C34878D82A}">
                    <a16:rowId xmlns:a16="http://schemas.microsoft.com/office/drawing/2014/main" val="152173844"/>
                  </a:ext>
                </a:extLst>
              </a:tr>
              <a:tr h="658753">
                <a:tc>
                  <a:txBody>
                    <a:bodyPr/>
                    <a:lstStyle/>
                    <a:p>
                      <a:pPr>
                        <a:buNone/>
                      </a:pPr>
                      <a:r>
                        <a:rPr lang="en-IN" dirty="0"/>
                        <a:t>username</a:t>
                      </a:r>
                    </a:p>
                  </a:txBody>
                  <a:tcPr anchor="ctr"/>
                </a:tc>
                <a:tc>
                  <a:txBody>
                    <a:bodyPr/>
                    <a:lstStyle/>
                    <a:p>
                      <a:pPr>
                        <a:buNone/>
                      </a:pPr>
                      <a:r>
                        <a:rPr lang="en-IN" dirty="0"/>
                        <a:t>VARCHAR2(50)</a:t>
                      </a:r>
                    </a:p>
                  </a:txBody>
                  <a:tcPr anchor="ctr"/>
                </a:tc>
                <a:tc>
                  <a:txBody>
                    <a:bodyPr/>
                    <a:lstStyle/>
                    <a:p>
                      <a:pPr>
                        <a:buNone/>
                      </a:pPr>
                      <a:r>
                        <a:rPr lang="en-IN" dirty="0"/>
                        <a:t>Primary Key</a:t>
                      </a:r>
                    </a:p>
                  </a:txBody>
                  <a:tcPr anchor="ctr"/>
                </a:tc>
                <a:tc>
                  <a:txBody>
                    <a:bodyPr/>
                    <a:lstStyle/>
                    <a:p>
                      <a:pPr>
                        <a:buNone/>
                      </a:pPr>
                      <a:r>
                        <a:rPr lang="en-IN" dirty="0"/>
                        <a:t>Faculty username</a:t>
                      </a:r>
                    </a:p>
                  </a:txBody>
                  <a:tcPr anchor="ctr"/>
                </a:tc>
                <a:extLst>
                  <a:ext uri="{0D108BD9-81ED-4DB2-BD59-A6C34878D82A}">
                    <a16:rowId xmlns:a16="http://schemas.microsoft.com/office/drawing/2014/main" val="296586095"/>
                  </a:ext>
                </a:extLst>
              </a:tr>
              <a:tr h="658753">
                <a:tc>
                  <a:txBody>
                    <a:bodyPr/>
                    <a:lstStyle/>
                    <a:p>
                      <a:pPr>
                        <a:buNone/>
                      </a:pPr>
                      <a:r>
                        <a:rPr lang="en-IN" dirty="0"/>
                        <a:t>password</a:t>
                      </a:r>
                    </a:p>
                  </a:txBody>
                  <a:tcPr anchor="ctr"/>
                </a:tc>
                <a:tc>
                  <a:txBody>
                    <a:bodyPr/>
                    <a:lstStyle/>
                    <a:p>
                      <a:pPr>
                        <a:buNone/>
                      </a:pPr>
                      <a:r>
                        <a:rPr lang="en-IN" dirty="0"/>
                        <a:t>VARCHAR2(256)</a:t>
                      </a:r>
                    </a:p>
                  </a:txBody>
                  <a:tcPr anchor="ctr"/>
                </a:tc>
                <a:tc>
                  <a:txBody>
                    <a:bodyPr/>
                    <a:lstStyle/>
                    <a:p>
                      <a:pPr>
                        <a:buNone/>
                      </a:pPr>
                      <a:r>
                        <a:rPr lang="en-IN" dirty="0"/>
                        <a:t>Primary Key</a:t>
                      </a:r>
                    </a:p>
                  </a:txBody>
                  <a:tcPr anchor="ctr"/>
                </a:tc>
                <a:tc>
                  <a:txBody>
                    <a:bodyPr/>
                    <a:lstStyle/>
                    <a:p>
                      <a:pPr>
                        <a:buNone/>
                      </a:pPr>
                      <a:r>
                        <a:rPr lang="en-IN" dirty="0"/>
                        <a:t>Faculty password</a:t>
                      </a:r>
                    </a:p>
                  </a:txBody>
                  <a:tcPr anchor="ctr"/>
                </a:tc>
                <a:extLst>
                  <a:ext uri="{0D108BD9-81ED-4DB2-BD59-A6C34878D82A}">
                    <a16:rowId xmlns:a16="http://schemas.microsoft.com/office/drawing/2014/main" val="4055298792"/>
                  </a:ext>
                </a:extLst>
              </a:tr>
            </a:tbl>
          </a:graphicData>
        </a:graphic>
      </p:graphicFrame>
    </p:spTree>
    <p:extLst>
      <p:ext uri="{BB962C8B-B14F-4D97-AF65-F5344CB8AC3E}">
        <p14:creationId xmlns:p14="http://schemas.microsoft.com/office/powerpoint/2010/main" val="235956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457200" y="1589604"/>
            <a:ext cx="9296399" cy="5632311"/>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Role Selection Module</a:t>
            </a:r>
          </a:p>
          <a:p>
            <a:pPr algn="just"/>
            <a:r>
              <a:rPr lang="en-US" sz="2000" dirty="0">
                <a:latin typeface="Times New Roman" panose="02020603050405020304" pitchFamily="18" charset="0"/>
                <a:cs typeface="Times New Roman" panose="02020603050405020304" pitchFamily="18" charset="0"/>
              </a:rPr>
              <a:t>	Displays Student and Faculty role buttons; routes user to the appropriate login screen.</a:t>
            </a:r>
          </a:p>
          <a:p>
            <a:pPr algn="just"/>
            <a:r>
              <a:rPr lang="en-US" sz="2000" b="1" dirty="0">
                <a:latin typeface="Times New Roman" panose="02020603050405020304" pitchFamily="18" charset="0"/>
                <a:cs typeface="Times New Roman" panose="02020603050405020304" pitchFamily="18" charset="0"/>
              </a:rPr>
              <a:t>Authentication Module</a:t>
            </a:r>
          </a:p>
          <a:p>
            <a:pPr algn="just"/>
            <a:r>
              <a:rPr lang="en-US" sz="2000" dirty="0">
                <a:latin typeface="Times New Roman" panose="02020603050405020304" pitchFamily="18" charset="0"/>
                <a:cs typeface="Times New Roman" panose="02020603050405020304" pitchFamily="18" charset="0"/>
              </a:rPr>
              <a:t>	Provides separate login for Student and Faculty; validates credentials via JDBC against MySQL database.</a:t>
            </a:r>
          </a:p>
          <a:p>
            <a:pPr algn="just"/>
            <a:r>
              <a:rPr lang="en-US" sz="2000" b="1" dirty="0">
                <a:latin typeface="Times New Roman" panose="02020603050405020304" pitchFamily="18" charset="0"/>
                <a:cs typeface="Times New Roman" panose="02020603050405020304" pitchFamily="18" charset="0"/>
              </a:rPr>
              <a:t>Student Dashboard Module</a:t>
            </a:r>
          </a:p>
          <a:p>
            <a:pPr algn="just"/>
            <a:r>
              <a:rPr lang="en-US" sz="2000" dirty="0">
                <a:latin typeface="Times New Roman" panose="02020603050405020304" pitchFamily="18" charset="0"/>
                <a:cs typeface="Times New Roman" panose="02020603050405020304" pitchFamily="18" charset="0"/>
              </a:rPr>
              <a:t>	Displays Student ID and </a:t>
            </a:r>
            <a:r>
              <a:rPr lang="en-US" sz="2000" dirty="0" err="1">
                <a:latin typeface="Times New Roman" panose="02020603050405020304" pitchFamily="18" charset="0"/>
                <a:cs typeface="Times New Roman" panose="02020603050405020304" pitchFamily="18" charset="0"/>
              </a:rPr>
              <a:t>Branch;provides</a:t>
            </a:r>
            <a:r>
              <a:rPr lang="en-US" sz="2000" dirty="0">
                <a:latin typeface="Times New Roman" panose="02020603050405020304" pitchFamily="18" charset="0"/>
                <a:cs typeface="Times New Roman" panose="02020603050405020304" pitchFamily="18" charset="0"/>
              </a:rPr>
              <a:t> sidebar navigation to Register Course, My Courses, and Logout.</a:t>
            </a:r>
          </a:p>
          <a:p>
            <a:pPr algn="just"/>
            <a:r>
              <a:rPr lang="en-US" sz="2000" b="1" dirty="0">
                <a:latin typeface="Times New Roman" panose="02020603050405020304" pitchFamily="18" charset="0"/>
                <a:cs typeface="Times New Roman" panose="02020603050405020304" pitchFamily="18" charset="0"/>
              </a:rPr>
              <a:t>Faculty Dashboard Module</a:t>
            </a:r>
          </a:p>
          <a:p>
            <a:pPr algn="just"/>
            <a:r>
              <a:rPr lang="en-US" sz="2000" dirty="0">
                <a:latin typeface="Times New Roman" panose="02020603050405020304" pitchFamily="18" charset="0"/>
                <a:cs typeface="Times New Roman" panose="02020603050405020304" pitchFamily="18" charset="0"/>
              </a:rPr>
              <a:t>	Displays Student ID and </a:t>
            </a:r>
            <a:r>
              <a:rPr lang="en-US" sz="2000" dirty="0" err="1">
                <a:latin typeface="Times New Roman" panose="02020603050405020304" pitchFamily="18" charset="0"/>
                <a:cs typeface="Times New Roman" panose="02020603050405020304" pitchFamily="18" charset="0"/>
              </a:rPr>
              <a:t>Branch;provides</a:t>
            </a:r>
            <a:r>
              <a:rPr lang="en-US" sz="2000" dirty="0">
                <a:latin typeface="Times New Roman" panose="02020603050405020304" pitchFamily="18" charset="0"/>
                <a:cs typeface="Times New Roman" panose="02020603050405020304" pitchFamily="18" charset="0"/>
              </a:rPr>
              <a:t> sidebar navigation to Add Course, Update </a:t>
            </a:r>
            <a:r>
              <a:rPr lang="en-US" sz="2000" dirty="0" err="1">
                <a:latin typeface="Times New Roman" panose="02020603050405020304" pitchFamily="18" charset="0"/>
                <a:cs typeface="Times New Roman" panose="02020603050405020304" pitchFamily="18" charset="0"/>
              </a:rPr>
              <a:t>Courses,Deadline,View</a:t>
            </a:r>
            <a:r>
              <a:rPr lang="en-US" sz="2000">
                <a:latin typeface="Times New Roman" panose="02020603050405020304" pitchFamily="18" charset="0"/>
                <a:cs typeface="Times New Roman" panose="02020603050405020304" pitchFamily="18" charset="0"/>
              </a:rPr>
              <a:t> Students </a:t>
            </a:r>
            <a:r>
              <a:rPr lang="en-US" sz="2000" dirty="0">
                <a:latin typeface="Times New Roman" panose="02020603050405020304" pitchFamily="18" charset="0"/>
                <a:cs typeface="Times New Roman" panose="02020603050405020304" pitchFamily="18" charset="0"/>
              </a:rPr>
              <a:t>and Logout.</a:t>
            </a:r>
          </a:p>
          <a:p>
            <a:pPr algn="just"/>
            <a:r>
              <a:rPr lang="en-US" sz="2000" b="1" dirty="0">
                <a:latin typeface="Times New Roman" panose="02020603050405020304" pitchFamily="18" charset="0"/>
                <a:cs typeface="Times New Roman" panose="02020603050405020304" pitchFamily="18" charset="0"/>
              </a:rPr>
              <a:t>Manage Branches Module</a:t>
            </a:r>
          </a:p>
          <a:p>
            <a:pPr algn="just"/>
            <a:r>
              <a:rPr lang="en-US" sz="2000" dirty="0">
                <a:latin typeface="Times New Roman" panose="02020603050405020304" pitchFamily="18" charset="0"/>
                <a:cs typeface="Times New Roman" panose="02020603050405020304" pitchFamily="18" charset="0"/>
              </a:rPr>
              <a:t>	Supports Add, Update, and Delete operations on academic branches via dynamic dropdown dialogs.</a:t>
            </a:r>
          </a:p>
          <a:p>
            <a:pPr algn="just"/>
            <a:r>
              <a:rPr lang="en-US" sz="2000" b="1" dirty="0">
                <a:latin typeface="Times New Roman" panose="02020603050405020304" pitchFamily="18" charset="0"/>
                <a:cs typeface="Times New Roman" panose="02020603050405020304" pitchFamily="18" charset="0"/>
              </a:rPr>
              <a:t>Manage Courses Module</a:t>
            </a:r>
          </a:p>
          <a:p>
            <a:pPr algn="just"/>
            <a:r>
              <a:rPr lang="en-US" sz="2000" dirty="0">
                <a:latin typeface="Times New Roman" panose="02020603050405020304" pitchFamily="18" charset="0"/>
                <a:cs typeface="Times New Roman" panose="02020603050405020304" pitchFamily="18" charset="0"/>
              </a:rPr>
              <a:t>	Allows faculty to select a branch, load its courses, view enrolled students, and remove a student.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Role Selection Screen:</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Displays the initial interface where the user selects between Student and Faculty roles before proceeding to login.</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4" name="Picture 3">
            <a:extLst>
              <a:ext uri="{FF2B5EF4-FFF2-40B4-BE49-F238E27FC236}">
                <a16:creationId xmlns:a16="http://schemas.microsoft.com/office/drawing/2014/main" id="{96F175A0-421F-5BB2-4D58-030F44CBBA8E}"/>
              </a:ext>
            </a:extLst>
          </p:cNvPr>
          <p:cNvPicPr>
            <a:picLocks noChangeAspect="1"/>
          </p:cNvPicPr>
          <p:nvPr/>
        </p:nvPicPr>
        <p:blipFill>
          <a:blip r:embed="rId7"/>
          <a:stretch>
            <a:fillRect/>
          </a:stretch>
        </p:blipFill>
        <p:spPr>
          <a:xfrm>
            <a:off x="2133600" y="2895600"/>
            <a:ext cx="5791199" cy="32766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990600" y="1449777"/>
            <a:ext cx="8763000" cy="1200329"/>
          </a:xfrm>
          <a:prstGeom prst="rect">
            <a:avLst/>
          </a:prstGeom>
          <a:noFill/>
        </p:spPr>
        <p:txBody>
          <a:bodyPr wrap="square">
            <a:spAutoFit/>
          </a:bodyPr>
          <a:lstStyle/>
          <a:p>
            <a:r>
              <a:rPr lang="en-IN" sz="1800" b="1" u="sng" dirty="0"/>
              <a:t>Student Login Screen:</a:t>
            </a:r>
            <a:endParaRPr lang="en-IN" sz="1800" dirty="0"/>
          </a:p>
          <a:p>
            <a:r>
              <a:rPr lang="en-IN" sz="1800" b="1" dirty="0"/>
              <a:t> </a:t>
            </a:r>
            <a:endParaRPr lang="en-IN" sz="1800" dirty="0"/>
          </a:p>
          <a:p>
            <a:r>
              <a:rPr lang="en-IN" sz="1800" dirty="0"/>
              <a:t>Displays the Student Login form where the user enters their username and password. Includes a Show Password toggle for convenience.</a:t>
            </a:r>
          </a:p>
        </p:txBody>
      </p:sp>
      <p:pic>
        <p:nvPicPr>
          <p:cNvPr id="2" name="Picture 1">
            <a:extLst>
              <a:ext uri="{FF2B5EF4-FFF2-40B4-BE49-F238E27FC236}">
                <a16:creationId xmlns:a16="http://schemas.microsoft.com/office/drawing/2014/main" id="{5CF36B6B-3DC9-637A-2E01-11A1BEE180C8}"/>
              </a:ext>
            </a:extLst>
          </p:cNvPr>
          <p:cNvPicPr>
            <a:picLocks noChangeAspect="1"/>
          </p:cNvPicPr>
          <p:nvPr/>
        </p:nvPicPr>
        <p:blipFill>
          <a:blip r:embed="rId7"/>
          <a:stretch>
            <a:fillRect/>
          </a:stretch>
        </p:blipFill>
        <p:spPr>
          <a:xfrm>
            <a:off x="1600200" y="3017520"/>
            <a:ext cx="6934199" cy="3535680"/>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990600" y="1449777"/>
            <a:ext cx="8763000" cy="1200329"/>
          </a:xfrm>
          <a:prstGeom prst="rect">
            <a:avLst/>
          </a:prstGeom>
          <a:noFill/>
        </p:spPr>
        <p:txBody>
          <a:bodyPr wrap="square">
            <a:spAutoFit/>
          </a:bodyPr>
          <a:lstStyle/>
          <a:p>
            <a:r>
              <a:rPr lang="en-IN" sz="1800" b="1" u="sng" dirty="0"/>
              <a:t>Student Dashboard Screen:</a:t>
            </a:r>
            <a:endParaRPr lang="en-IN" sz="1800" dirty="0"/>
          </a:p>
          <a:p>
            <a:r>
              <a:rPr lang="en-IN" sz="1800" b="1" dirty="0"/>
              <a:t> </a:t>
            </a:r>
            <a:endParaRPr lang="en-IN" sz="1800" dirty="0"/>
          </a:p>
          <a:p>
            <a:pPr algn="just"/>
            <a:r>
              <a:rPr lang="en-IN" sz="1800" dirty="0"/>
              <a:t>Displays the student's personalized dashboard showing Student ID and assigned Branch, with a sidebar navigation menu for accessing system modules.</a:t>
            </a:r>
          </a:p>
        </p:txBody>
      </p:sp>
      <p:pic>
        <p:nvPicPr>
          <p:cNvPr id="2" name="Picture 1">
            <a:extLst>
              <a:ext uri="{FF2B5EF4-FFF2-40B4-BE49-F238E27FC236}">
                <a16:creationId xmlns:a16="http://schemas.microsoft.com/office/drawing/2014/main" id="{D12FC7FB-28F6-6A3E-9A2E-993D4C6384A1}"/>
              </a:ext>
            </a:extLst>
          </p:cNvPr>
          <p:cNvPicPr>
            <a:picLocks noChangeAspect="1"/>
          </p:cNvPicPr>
          <p:nvPr/>
        </p:nvPicPr>
        <p:blipFill>
          <a:blip r:embed="rId7"/>
          <a:stretch>
            <a:fillRect/>
          </a:stretch>
        </p:blipFill>
        <p:spPr>
          <a:xfrm>
            <a:off x="1143000" y="2724150"/>
            <a:ext cx="8305799" cy="3905250"/>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sz="1800" b="1" u="sng" dirty="0"/>
              <a:t>Course Registration Screen:</a:t>
            </a:r>
            <a:endParaRPr lang="en-IN" sz="1800" dirty="0"/>
          </a:p>
          <a:p>
            <a:r>
              <a:rPr lang="en-IN" sz="1800" b="1" dirty="0"/>
              <a:t> </a:t>
            </a:r>
            <a:endParaRPr lang="en-IN" sz="1800" dirty="0"/>
          </a:p>
          <a:p>
            <a:pPr algn="just"/>
            <a:r>
              <a:rPr lang="en-IN" sz="1800" dirty="0"/>
              <a:t>Shows the course registration panel where the student selects a course from a branch-filtered dropdown</a:t>
            </a:r>
            <a:r>
              <a:rPr lang="en-IN" sz="1800" b="1" u="sng" dirty="0"/>
              <a:t> and clicks Register to enroll.</a:t>
            </a:r>
            <a:endParaRPr lang="en-IN" sz="1800" dirty="0"/>
          </a:p>
        </p:txBody>
      </p:sp>
      <p:pic>
        <p:nvPicPr>
          <p:cNvPr id="2" name="Picture 1">
            <a:extLst>
              <a:ext uri="{FF2B5EF4-FFF2-40B4-BE49-F238E27FC236}">
                <a16:creationId xmlns:a16="http://schemas.microsoft.com/office/drawing/2014/main" id="{612F619C-EA83-9E08-39E8-DF32BC213D08}"/>
              </a:ext>
            </a:extLst>
          </p:cNvPr>
          <p:cNvPicPr>
            <a:picLocks noChangeAspect="1"/>
          </p:cNvPicPr>
          <p:nvPr/>
        </p:nvPicPr>
        <p:blipFill>
          <a:blip r:embed="rId7"/>
          <a:stretch>
            <a:fillRect/>
          </a:stretch>
        </p:blipFill>
        <p:spPr>
          <a:xfrm>
            <a:off x="1828800" y="3006090"/>
            <a:ext cx="7162800" cy="3775710"/>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My Courses Screen:</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Displays all registered courses in a table with Course, Credits, and Deadline columns, along with Total Credits at the bottom.</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4" name="Picture 3">
            <a:extLst>
              <a:ext uri="{FF2B5EF4-FFF2-40B4-BE49-F238E27FC236}">
                <a16:creationId xmlns:a16="http://schemas.microsoft.com/office/drawing/2014/main" id="{96F175A0-421F-5BB2-4D58-030F44CBBA8E}"/>
              </a:ext>
            </a:extLst>
          </p:cNvPr>
          <p:cNvPicPr>
            <a:picLocks noChangeAspect="1"/>
          </p:cNvPicPr>
          <p:nvPr/>
        </p:nvPicPr>
        <p:blipFill>
          <a:blip r:embed="rId6"/>
          <a:stretch>
            <a:fillRect/>
          </a:stretch>
        </p:blipFill>
        <p:spPr>
          <a:xfrm>
            <a:off x="2133600" y="2895600"/>
            <a:ext cx="5791199" cy="32766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Faculty Dashboard Screen:</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Displays the Faculty Dashboard with branch/course management buttons (Add/Update/Delete Branch, Add/Update/Delete Course, Update Deadline) and student management tools.</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4" name="Picture 3">
            <a:extLst>
              <a:ext uri="{FF2B5EF4-FFF2-40B4-BE49-F238E27FC236}">
                <a16:creationId xmlns:a16="http://schemas.microsoft.com/office/drawing/2014/main" id="{96F175A0-421F-5BB2-4D58-030F44CBBA8E}"/>
              </a:ext>
            </a:extLst>
          </p:cNvPr>
          <p:cNvPicPr>
            <a:picLocks noChangeAspect="1"/>
          </p:cNvPicPr>
          <p:nvPr/>
        </p:nvPicPr>
        <p:blipFill>
          <a:blip r:embed="rId6"/>
          <a:stretch>
            <a:fillRect/>
          </a:stretch>
        </p:blipFill>
        <p:spPr>
          <a:xfrm>
            <a:off x="2133600" y="2895600"/>
            <a:ext cx="5791199" cy="32766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Add Course - Course Name Dialog:</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Faculty enters the course name via an input dialog when adding a new course to the system.</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4" name="Picture 3">
            <a:extLst>
              <a:ext uri="{FF2B5EF4-FFF2-40B4-BE49-F238E27FC236}">
                <a16:creationId xmlns:a16="http://schemas.microsoft.com/office/drawing/2014/main" id="{96F175A0-421F-5BB2-4D58-030F44CBBA8E}"/>
              </a:ext>
            </a:extLst>
          </p:cNvPr>
          <p:cNvPicPr>
            <a:picLocks noChangeAspect="1"/>
          </p:cNvPicPr>
          <p:nvPr/>
        </p:nvPicPr>
        <p:blipFill>
          <a:blip r:embed="rId6"/>
          <a:stretch>
            <a:fillRect/>
          </a:stretch>
        </p:blipFill>
        <p:spPr>
          <a:xfrm>
            <a:off x="2133600" y="2895600"/>
            <a:ext cx="5791199" cy="32766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Add Course - Credits Dialog:</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Faculty enters the number of credit hours for the new course via an input dialog.</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4" name="Picture 3">
            <a:extLst>
              <a:ext uri="{FF2B5EF4-FFF2-40B4-BE49-F238E27FC236}">
                <a16:creationId xmlns:a16="http://schemas.microsoft.com/office/drawing/2014/main" id="{96F175A0-421F-5BB2-4D58-030F44CBBA8E}"/>
              </a:ext>
            </a:extLst>
          </p:cNvPr>
          <p:cNvPicPr>
            <a:picLocks noChangeAspect="1"/>
          </p:cNvPicPr>
          <p:nvPr/>
        </p:nvPicPr>
        <p:blipFill>
          <a:blip r:embed="rId6"/>
          <a:stretch>
            <a:fillRect/>
          </a:stretch>
        </p:blipFill>
        <p:spPr>
          <a:xfrm>
            <a:off x="2133600" y="2895600"/>
            <a:ext cx="5791199" cy="32766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Add Course - Deadline Dialog:</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Faculty sets the registration deadline (YYYY-MM-DD format) for the new course via an input dialog.</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4" name="Picture 3">
            <a:extLst>
              <a:ext uri="{FF2B5EF4-FFF2-40B4-BE49-F238E27FC236}">
                <a16:creationId xmlns:a16="http://schemas.microsoft.com/office/drawing/2014/main" id="{96F175A0-421F-5BB2-4D58-030F44CBBA8E}"/>
              </a:ext>
            </a:extLst>
          </p:cNvPr>
          <p:cNvPicPr>
            <a:picLocks noChangeAspect="1"/>
          </p:cNvPicPr>
          <p:nvPr/>
        </p:nvPicPr>
        <p:blipFill>
          <a:blip r:embed="rId6"/>
          <a:stretch>
            <a:fillRect/>
          </a:stretch>
        </p:blipFill>
        <p:spPr>
          <a:xfrm>
            <a:off x="2133600" y="2895600"/>
            <a:ext cx="5791199" cy="32766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Manage Students Screen:</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Displays enrolled students (ID, Name, Year, Section, Email) for a selected course with Search, Filter, Add, and Remove options.</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4" name="Picture 3">
            <a:extLst>
              <a:ext uri="{FF2B5EF4-FFF2-40B4-BE49-F238E27FC236}">
                <a16:creationId xmlns:a16="http://schemas.microsoft.com/office/drawing/2014/main" id="{96F175A0-421F-5BB2-4D58-030F44CBBA8E}"/>
              </a:ext>
            </a:extLst>
          </p:cNvPr>
          <p:cNvPicPr>
            <a:picLocks noChangeAspect="1"/>
          </p:cNvPicPr>
          <p:nvPr/>
        </p:nvPicPr>
        <p:blipFill>
          <a:blip r:embed="rId6"/>
          <a:stretch>
            <a:fillRect/>
          </a:stretch>
        </p:blipFill>
        <p:spPr>
          <a:xfrm>
            <a:off x="2133600" y="2895600"/>
            <a:ext cx="5791199" cy="32766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Add Branch Dialog:</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Faculty enters a new branch name via an input dialog to add it to the academic catalog.</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4" name="Picture 3">
            <a:extLst>
              <a:ext uri="{FF2B5EF4-FFF2-40B4-BE49-F238E27FC236}">
                <a16:creationId xmlns:a16="http://schemas.microsoft.com/office/drawing/2014/main" id="{96F175A0-421F-5BB2-4D58-030F44CBBA8E}"/>
              </a:ext>
            </a:extLst>
          </p:cNvPr>
          <p:cNvPicPr>
            <a:picLocks noChangeAspect="1"/>
          </p:cNvPicPr>
          <p:nvPr/>
        </p:nvPicPr>
        <p:blipFill>
          <a:blip r:embed="rId6"/>
          <a:stretch>
            <a:fillRect/>
          </a:stretch>
        </p:blipFill>
        <p:spPr>
          <a:xfrm>
            <a:off x="2133600" y="2895600"/>
            <a:ext cx="5791199" cy="32766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314911" y="1143000"/>
            <a:ext cx="9448800" cy="5575309"/>
          </a:xfrm>
          <a:prstGeom prst="rect">
            <a:avLst/>
          </a:prstGeom>
          <a:noFill/>
        </p:spPr>
        <p:txBody>
          <a:bodyPr wrap="square" rtlCol="0">
            <a:spAutoFit/>
          </a:bodyPr>
          <a:lstStyle/>
          <a:p>
            <a:pPr algn="just">
              <a:lnSpc>
                <a:spcPct val="150000"/>
              </a:lnSpc>
            </a:pPr>
            <a:r>
              <a:rPr lang="en-IN" sz="2000" dirty="0"/>
              <a:t>The Course Registration System developed in this project provides core functionalities for managing course enrollments. However, the system can be further enhanced by adding advanced features to improve its functionality and </a:t>
            </a:r>
            <a:r>
              <a:rPr lang="en-IN" sz="2000" dirty="0" err="1"/>
              <a:t>usability. Some</a:t>
            </a:r>
            <a:r>
              <a:rPr lang="en-IN" sz="2000" dirty="0"/>
              <a:t> possible future enhancements include:</a:t>
            </a:r>
          </a:p>
          <a:p>
            <a:pPr marL="342900" lvl="0" indent="-342900" algn="just">
              <a:lnSpc>
                <a:spcPct val="150000"/>
              </a:lnSpc>
              <a:buFont typeface="Arial" panose="020B0604020202020204" pitchFamily="34" charset="0"/>
              <a:buChar char="•"/>
            </a:pPr>
            <a:r>
              <a:rPr lang="en-IN" sz="2000" b="1" dirty="0"/>
              <a:t>Web-Based Application:</a:t>
            </a:r>
          </a:p>
          <a:p>
            <a:pPr algn="just">
              <a:lnSpc>
                <a:spcPct val="150000"/>
              </a:lnSpc>
            </a:pPr>
            <a:r>
              <a:rPr lang="en-IN" sz="2000" dirty="0"/>
              <a:t>	Converting the desktop application into a web-based system to enable remote access from any device using a browser</a:t>
            </a:r>
          </a:p>
          <a:p>
            <a:pPr algn="just">
              <a:lnSpc>
                <a:spcPct val="150000"/>
              </a:lnSpc>
            </a:pPr>
            <a:endParaRPr lang="en-IN" sz="2000" dirty="0"/>
          </a:p>
          <a:p>
            <a:pPr marL="342900" lvl="0" indent="-342900" algn="just">
              <a:lnSpc>
                <a:spcPct val="150000"/>
              </a:lnSpc>
              <a:buFont typeface="Arial" panose="020B0604020202020204" pitchFamily="34" charset="0"/>
              <a:buChar char="•"/>
            </a:pPr>
            <a:r>
              <a:rPr lang="en-IN" sz="2000" b="1" dirty="0"/>
              <a:t>Timetable Management:</a:t>
            </a:r>
          </a:p>
          <a:p>
            <a:pPr algn="just">
              <a:lnSpc>
                <a:spcPct val="150000"/>
              </a:lnSpc>
            </a:pPr>
            <a:r>
              <a:rPr lang="en-IN" sz="2000" dirty="0"/>
              <a:t>	Integrating a timetable generator that auto-detects and prevents scheduling conflicts during course registration</a:t>
            </a:r>
          </a:p>
          <a:p>
            <a:pPr marL="342900" lvl="0" indent="-342900" algn="just">
              <a:lnSpc>
                <a:spcPct val="150000"/>
              </a:lnSpc>
              <a:buFont typeface="Arial" panose="020B0604020202020204" pitchFamily="34" charset="0"/>
              <a:buChar char="•"/>
            </a:pPr>
            <a:r>
              <a:rPr lang="en-IN" sz="2000" b="1" dirty="0"/>
              <a:t>Grade Management:</a:t>
            </a:r>
          </a:p>
          <a:p>
            <a:pPr algn="just">
              <a:lnSpc>
                <a:spcPct val="150000"/>
              </a:lnSpc>
            </a:pPr>
            <a:r>
              <a:rPr lang="en-IN" sz="2000" dirty="0"/>
              <a:t>	Adding modules for faculty to enter and manage student grades per course</a:t>
            </a:r>
          </a:p>
          <a:p>
            <a:pPr algn="just">
              <a:lnSpc>
                <a:spcPct val="150000"/>
              </a:lnSpc>
            </a:pPr>
            <a:endParaRPr lang="en-IN" sz="2000" dirty="0"/>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821804"/>
          </a:xfrm>
          <a:prstGeom prst="rect">
            <a:avLst/>
          </a:prstGeom>
          <a:noFill/>
        </p:spPr>
        <p:txBody>
          <a:bodyPr wrap="square" rtlCol="0">
            <a:spAutoFit/>
          </a:bodyPr>
          <a:lstStyle/>
          <a:p>
            <a:pPr>
              <a:lnSpc>
                <a:spcPct val="150000"/>
              </a:lnSpc>
            </a:pPr>
            <a:r>
              <a:rPr lang="en-IN" sz="2000" dirty="0"/>
              <a:t>The following references were used during the development of the Course Registration System:</a:t>
            </a:r>
          </a:p>
          <a:p>
            <a:pPr marL="714375" lvl="2" indent="-285750">
              <a:lnSpc>
                <a:spcPct val="150000"/>
              </a:lnSpc>
              <a:buFont typeface="Arial" panose="020B0604020202020204" pitchFamily="34" charset="0"/>
              <a:buChar char="•"/>
            </a:pPr>
            <a:r>
              <a:rPr lang="en-IN" b="1" dirty="0"/>
              <a:t>Herbert Schildt</a:t>
            </a:r>
            <a:r>
              <a:rPr lang="en-IN" dirty="0"/>
              <a:t>, </a:t>
            </a:r>
            <a:r>
              <a:rPr lang="en-IN" i="1" dirty="0"/>
              <a:t>Java: The Complete Reference</a:t>
            </a:r>
            <a:r>
              <a:rPr lang="en-IN" dirty="0"/>
              <a:t>, Oracle Press, 11th Edition.</a:t>
            </a:r>
          </a:p>
          <a:p>
            <a:pPr marL="714375" lvl="2" indent="-285750">
              <a:lnSpc>
                <a:spcPct val="150000"/>
              </a:lnSpc>
              <a:buFont typeface="Arial" panose="020B0604020202020204" pitchFamily="34" charset="0"/>
              <a:buChar char="•"/>
            </a:pPr>
            <a:r>
              <a:rPr lang="en-IN" b="1" dirty="0"/>
              <a:t>E. </a:t>
            </a:r>
            <a:r>
              <a:rPr lang="en-IN" b="1" dirty="0" err="1"/>
              <a:t>Balagurusamy</a:t>
            </a:r>
            <a:r>
              <a:rPr lang="en-IN" dirty="0"/>
              <a:t>, </a:t>
            </a:r>
            <a:r>
              <a:rPr lang="en-IN" i="1" dirty="0"/>
              <a:t>Programming with Java</a:t>
            </a:r>
            <a:r>
              <a:rPr lang="en-IN" dirty="0"/>
              <a:t>, McGraw Hill Education.</a:t>
            </a:r>
          </a:p>
          <a:p>
            <a:pPr marL="714375" lvl="2" indent="-285750">
              <a:lnSpc>
                <a:spcPct val="150000"/>
              </a:lnSpc>
              <a:buFont typeface="Arial" panose="020B0604020202020204" pitchFamily="34" charset="0"/>
              <a:buChar char="•"/>
            </a:pPr>
            <a:r>
              <a:rPr lang="en-IN" b="1" dirty="0"/>
              <a:t>Korth, Silberschatz, Sudarshan</a:t>
            </a:r>
            <a:r>
              <a:rPr lang="en-IN" dirty="0"/>
              <a:t>, </a:t>
            </a:r>
            <a:r>
              <a:rPr lang="en-IN" i="1" dirty="0"/>
              <a:t>Database System Concepts</a:t>
            </a:r>
            <a:r>
              <a:rPr lang="en-IN" dirty="0"/>
              <a:t>, McGraw Hill.</a:t>
            </a:r>
          </a:p>
          <a:p>
            <a:pPr marL="714375" lvl="2" indent="-285750">
              <a:lnSpc>
                <a:spcPct val="150000"/>
              </a:lnSpc>
              <a:buFont typeface="Arial" panose="020B0604020202020204" pitchFamily="34" charset="0"/>
              <a:buChar char="•"/>
            </a:pPr>
            <a:r>
              <a:rPr lang="en-IN" b="1" dirty="0"/>
              <a:t>MySQL Documentation</a:t>
            </a:r>
            <a:r>
              <a:rPr lang="en-IN" dirty="0"/>
              <a:t>,</a:t>
            </a:r>
            <a:br>
              <a:rPr lang="en-IN" dirty="0"/>
            </a:br>
            <a:r>
              <a:rPr lang="en-IN" u="sng" dirty="0">
                <a:hlinkClick r:id="rId2"/>
              </a:rPr>
              <a:t>https://dev.mysql.com/doc/</a:t>
            </a:r>
            <a:endParaRPr lang="en-IN" dirty="0"/>
          </a:p>
          <a:p>
            <a:pPr marL="714375" lvl="2" indent="-285750">
              <a:lnSpc>
                <a:spcPct val="150000"/>
              </a:lnSpc>
              <a:buFont typeface="Arial" panose="020B0604020202020204" pitchFamily="34" charset="0"/>
              <a:buChar char="•"/>
            </a:pPr>
            <a:r>
              <a:rPr lang="en-IN" b="1" dirty="0"/>
              <a:t>Java Documentation (Oracle)</a:t>
            </a:r>
            <a:r>
              <a:rPr lang="en-IN" dirty="0"/>
              <a:t>,</a:t>
            </a:r>
            <a:br>
              <a:rPr lang="en-IN" dirty="0"/>
            </a:br>
            <a:r>
              <a:rPr lang="en-IN" u="sng" dirty="0">
                <a:hlinkClick r:id="rId3"/>
              </a:rPr>
              <a:t>https://docs.oracle.com/javase</a:t>
            </a:r>
            <a:endParaRPr lang="en-IN" dirty="0"/>
          </a:p>
          <a:p>
            <a:pPr marL="714375" lvl="2" indent="-285750">
              <a:lnSpc>
                <a:spcPct val="150000"/>
              </a:lnSpc>
              <a:buFont typeface="Arial" panose="020B0604020202020204" pitchFamily="34" charset="0"/>
              <a:buChar char="•"/>
            </a:pPr>
            <a:r>
              <a:rPr lang="en-IN" b="1" dirty="0"/>
              <a:t>JDBC Tutorial – </a:t>
            </a:r>
            <a:r>
              <a:rPr lang="en-IN" b="1" dirty="0" err="1"/>
              <a:t>GeeksforGeeks</a:t>
            </a:r>
            <a:r>
              <a:rPr lang="en-IN" dirty="0"/>
              <a:t>,</a:t>
            </a:r>
            <a:br>
              <a:rPr lang="en-IN" dirty="0"/>
            </a:br>
            <a:r>
              <a:rPr lang="en-IN" dirty="0"/>
              <a:t>https://www.geeksforgeeks.org/jdbc/</a:t>
            </a:r>
          </a:p>
          <a:p>
            <a:pPr marL="714375" lvl="2" indent="-285750">
              <a:lnSpc>
                <a:spcPct val="150000"/>
              </a:lnSpc>
              <a:buFont typeface="Arial" panose="020B0604020202020204" pitchFamily="34" charset="0"/>
              <a:buChar char="•"/>
            </a:pPr>
            <a:r>
              <a:rPr lang="en-IN" b="1" dirty="0"/>
              <a:t>Java Swing Tutorial – </a:t>
            </a:r>
            <a:r>
              <a:rPr lang="en-IN" b="1" dirty="0" err="1"/>
              <a:t>TutorialsPoint</a:t>
            </a:r>
            <a:r>
              <a:rPr lang="en-IN" dirty="0"/>
              <a:t>,</a:t>
            </a:r>
            <a:br>
              <a:rPr lang="en-IN" dirty="0"/>
            </a:br>
            <a:r>
              <a:rPr lang="en-IN" dirty="0"/>
              <a:t>https://www.tutorialspoint.com/java_swing</a:t>
            </a:r>
          </a:p>
          <a:p>
            <a:pPr marL="714375" lvl="2" indent="-285750">
              <a:lnSpc>
                <a:spcPct val="150000"/>
              </a:lnSpc>
              <a:buFont typeface="Arial" panose="020B0604020202020204" pitchFamily="34" charset="0"/>
              <a:buChar char="•"/>
            </a:pPr>
            <a:r>
              <a:rPr lang="en-IN" b="1" dirty="0"/>
              <a:t>W3Schools Java Tutorial</a:t>
            </a:r>
            <a:r>
              <a:rPr lang="en-IN" dirty="0"/>
              <a:t>,</a:t>
            </a:r>
            <a:br>
              <a:rPr lang="en-IN" dirty="0"/>
            </a:br>
            <a:r>
              <a:rPr lang="en-IN" u="sng" dirty="0">
                <a:hlinkClick r:id="rId4"/>
              </a:rPr>
              <a:t>https://www.w3schools.com/java/</a:t>
            </a:r>
            <a:endParaRPr lang="en-IN"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381000" y="1323261"/>
            <a:ext cx="9448800" cy="465197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t>The Course Registration System was successfully developed as a desktop application for managing student course enrollments.</a:t>
            </a:r>
          </a:p>
          <a:p>
            <a:pPr marL="342900" indent="-342900" algn="just">
              <a:lnSpc>
                <a:spcPct val="150000"/>
              </a:lnSpc>
              <a:buFont typeface="Arial" panose="020B0604020202020204" pitchFamily="34" charset="0"/>
              <a:buChar char="•"/>
            </a:pPr>
            <a:r>
              <a:rPr lang="en-US" sz="2000" dirty="0"/>
              <a:t>It replaces manual, paper-based registration with an efficient computerized, role-based digital solution.</a:t>
            </a:r>
          </a:p>
          <a:p>
            <a:pPr marL="342900" indent="-342900" algn="just">
              <a:lnSpc>
                <a:spcPct val="150000"/>
              </a:lnSpc>
              <a:buFont typeface="Arial" panose="020B0604020202020204" pitchFamily="34" charset="0"/>
              <a:buChar char="•"/>
            </a:pPr>
            <a:r>
              <a:rPr lang="en-US" sz="2000" dirty="0"/>
              <a:t>The system provides key functionalities like </a:t>
            </a:r>
            <a:r>
              <a:rPr lang="en-US" sz="2000" b="1" dirty="0"/>
              <a:t>role-based login, course registration, duplicate prevention, and credit hour tracking</a:t>
            </a:r>
            <a:r>
              <a:rPr lang="en-US" sz="2000" dirty="0"/>
              <a:t>.</a:t>
            </a:r>
          </a:p>
          <a:p>
            <a:pPr marL="342900" indent="-342900" algn="just">
              <a:lnSpc>
                <a:spcPct val="150000"/>
              </a:lnSpc>
              <a:buFont typeface="Arial" panose="020B0604020202020204" pitchFamily="34" charset="0"/>
              <a:buChar char="•"/>
            </a:pPr>
            <a:r>
              <a:rPr lang="en-US" sz="2000" dirty="0"/>
              <a:t>It ensures </a:t>
            </a:r>
            <a:r>
              <a:rPr lang="en-US" sz="2000" b="1" dirty="0"/>
              <a:t>data accuracy, security, and easy accessibility for students and faculty</a:t>
            </a:r>
            <a:r>
              <a:rPr lang="en-US" sz="2000" dirty="0"/>
              <a:t>.</a:t>
            </a:r>
          </a:p>
          <a:p>
            <a:pPr marL="342900" indent="-342900" algn="just">
              <a:lnSpc>
                <a:spcPct val="150000"/>
              </a:lnSpc>
              <a:buFont typeface="Arial" panose="020B0604020202020204" pitchFamily="34" charset="0"/>
              <a:buChar char="•"/>
            </a:pPr>
            <a:r>
              <a:rPr lang="en-US" sz="2000" dirty="0"/>
              <a:t>Technologies like </a:t>
            </a:r>
            <a:r>
              <a:rPr lang="en-US" sz="2000" b="1" dirty="0"/>
              <a:t>Core Java, Swing, JDBC, and MySQL</a:t>
            </a:r>
            <a:r>
              <a:rPr lang="en-US" sz="2000" dirty="0"/>
              <a:t> enabled reliable and secure performance.</a:t>
            </a:r>
          </a:p>
          <a:p>
            <a:pPr marL="342900" indent="-342900" algn="just">
              <a:lnSpc>
                <a:spcPct val="150000"/>
              </a:lnSpc>
              <a:buFont typeface="Arial" panose="020B0604020202020204" pitchFamily="34" charset="0"/>
              <a:buChar char="•"/>
            </a:pPr>
            <a:r>
              <a:rPr lang="en-US" sz="2000" dirty="0"/>
              <a:t>The system improves institutional efficiency and provides a scalable solution for academic course management.</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2574</TotalTime>
  <Words>1457</Words>
  <Application>Microsoft Office PowerPoint</Application>
  <PresentationFormat>Custom</PresentationFormat>
  <Paragraphs>239</Paragraphs>
  <Slides>27</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Cambria</vt:lpstr>
      <vt:lpstr>Gautami</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lenovo</cp:lastModifiedBy>
  <cp:revision>52</cp:revision>
  <cp:lastPrinted>2025-10-14T18:21:49Z</cp:lastPrinted>
  <dcterms:created xsi:type="dcterms:W3CDTF">2025-10-10T08:28:06Z</dcterms:created>
  <dcterms:modified xsi:type="dcterms:W3CDTF">2026-04-05T16:35:46Z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